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5d12d0c-4c66-32cf-1d06-48e04de7cbef}">
          <p14:sldIdLst>
            <p14:sldId id="256"/>
          </p14:sldIdLst>
        </p14:section>
        <p14:section name="Problem and solution" id="{c925b862-2c54-8c59-455a-9db87e07e71b}">
          <p14:sldIdLst>
            <p14:sldId id="257"/>
            <p14:sldId id="258"/>
            <p14:sldId id="259"/>
          </p14:sldIdLst>
        </p14:section>
        <p14:section name="Customer and plans" id="{df9cf67b-481a-742f-e7e1-f3820408fca7}">
          <p14:sldIdLst>
            <p14:sldId id="260"/>
            <p14:sldId id="261"/>
          </p14:sldIdLst>
        </p14:section>
        <p14:section name="Numbers" id="{6723a226-a175-cc0e-c124-f199f87a82da}">
          <p14:sldIdLst>
            <p14:sldId id="262"/>
            <p14:sldId id="263"/>
          </p14:sldIdLst>
        </p14:section>
        <p14:section name="Market and next steps" id="{6dcbc832-7855-f481-9342-6f654acbd94c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Paying subscribers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250</c:v>
                </c:pt>
                <c:pt idx="2">
                  <c:v>500</c:v>
                </c:pt>
                <c:pt idx="3">
                  <c:v>583</c:v>
                </c:pt>
                <c:pt idx="4">
                  <c:v>680</c:v>
                </c:pt>
                <c:pt idx="5">
                  <c:v>794</c:v>
                </c:pt>
                <c:pt idx="6">
                  <c:v>926</c:v>
                </c:pt>
                <c:pt idx="7">
                  <c:v>1080</c:v>
                </c:pt>
                <c:pt idx="8">
                  <c:v>1260</c:v>
                </c:pt>
                <c:pt idx="9">
                  <c:v>1470</c:v>
                </c:pt>
                <c:pt idx="10">
                  <c:v>1714</c:v>
                </c:pt>
                <c:pt idx="11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0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Revenue and net profit (R)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4900</c:v>
                </c:pt>
                <c:pt idx="1">
                  <c:v>12250</c:v>
                </c:pt>
                <c:pt idx="2">
                  <c:v>24500</c:v>
                </c:pt>
                <c:pt idx="3">
                  <c:v>28567</c:v>
                </c:pt>
                <c:pt idx="4">
                  <c:v>33320</c:v>
                </c:pt>
                <c:pt idx="5">
                  <c:v>38906</c:v>
                </c:pt>
                <c:pt idx="6">
                  <c:v>45374</c:v>
                </c:pt>
                <c:pt idx="7">
                  <c:v>52920</c:v>
                </c:pt>
                <c:pt idx="8">
                  <c:v>61740</c:v>
                </c:pt>
                <c:pt idx="9">
                  <c:v>72030</c:v>
                </c:pt>
                <c:pt idx="10">
                  <c:v>83986</c:v>
                </c:pt>
                <c:pt idx="11">
                  <c:v>98000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(R)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4250</c:v>
                </c:pt>
                <c:pt idx="1">
                  <c:v>10850</c:v>
                </c:pt>
                <c:pt idx="2">
                  <c:v>21850</c:v>
                </c:pt>
                <c:pt idx="3">
                  <c:v>25502</c:v>
                </c:pt>
                <c:pt idx="4">
                  <c:v>29770</c:v>
                </c:pt>
                <c:pt idx="5">
                  <c:v>34786</c:v>
                </c:pt>
                <c:pt idx="6">
                  <c:v>40594</c:v>
                </c:pt>
                <c:pt idx="7">
                  <c:v>47370</c:v>
                </c:pt>
                <c:pt idx="8">
                  <c:v>55290</c:v>
                </c:pt>
                <c:pt idx="9">
                  <c:v>64530</c:v>
                </c:pt>
                <c:pt idx="10">
                  <c:v>75266</c:v>
                </c:pt>
                <c:pt idx="11">
                  <c:v>87850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0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Intro. EduSnap is an AI homework helper: a learner snaps a photo of a question and gets a step-by-step explanation on their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barriers: no help after school, tutors cost R150 to R300 an hour, and data is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solution, who it is for, how AI makes it better. Keep to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Snap, understand, learn. Low-data mode matters because learners like Thabo buy about R30 of data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Thabo is our target user. Name a real person who would use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Freemium: 5 free questions a day, then Snap &amp; Learn at R49 per month. Family plan is R89.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Freemium. The only variable is subscriber numbers; fee, server cost and hosting are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 grow from 100 in January to 2,000 in December. Revenue and profit follow. Mid-year months are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studies come from our research. Source URLs and screenshots are on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integrations plus a recommendation on innovation and job 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31520" y="15544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EduSnap</a:t>
            </a:r>
            <a:endParaRPr lang="en-US" sz="6600" dirty="0"/>
          </a:p>
        </p:txBody>
      </p:sp>
      <p:sp>
        <p:nvSpPr>
          <p:cNvPr id="4" name="Tagline"/>
          <p:cNvSpPr txBox="1"/>
          <p:nvPr/>
        </p:nvSpPr>
        <p:spPr>
          <a:xfrm>
            <a:off x="731520" y="2834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</a:rPr>
              <a:t>Snap a question. Get an answer.</a:t>
            </a:r>
            <a:endParaRPr lang="en-US" sz="2800" dirty="0"/>
          </a:p>
        </p:txBody>
      </p:sp>
      <p:sp>
        <p:nvSpPr>
          <p:cNvPr id="5" name="Subtitle"/>
          <p:cNvSpPr txBox="1"/>
          <p:nvPr/>
        </p:nvSpPr>
        <p:spPr>
          <a:xfrm>
            <a:off x="731520" y="36576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AI homework help for South African high school learners, Grades 8 to 12</a:t>
            </a: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Digital Entrepreneurship for Sustainable Community Development  |  JGA 2026</a:t>
            </a:r>
            <a:endParaRPr lang="en-US" sz="1200" dirty="0"/>
          </a:p>
        </p:txBody>
      </p:sp>
      <p:sp>
        <p:nvSpPr>
          <p:cNvPr id="7" name="Phone"/>
          <p:cNvSpPr/>
          <p:nvPr/>
        </p:nvSpPr>
        <p:spPr>
          <a:xfrm>
            <a:off x="8321040" y="822960"/>
            <a:ext cx="3017520" cy="521208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8" name="Bubble question"/>
          <p:cNvSpPr/>
          <p:nvPr/>
        </p:nvSpPr>
        <p:spPr>
          <a:xfrm>
            <a:off x="8595360" y="137160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ubble question text"/>
          <p:cNvSpPr txBox="1"/>
          <p:nvPr/>
        </p:nvSpPr>
        <p:spPr>
          <a:xfrm>
            <a:off x="873252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Photo of homework: solve 2x + 6 = 14</a:t>
            </a:r>
            <a:endParaRPr lang="en-US" sz="1400" dirty="0"/>
          </a:p>
        </p:txBody>
      </p:sp>
      <p:sp>
        <p:nvSpPr>
          <p:cNvPr id="10" name="Bubble answer"/>
          <p:cNvSpPr/>
          <p:nvPr/>
        </p:nvSpPr>
        <p:spPr>
          <a:xfrm>
            <a:off x="8778240" y="2743200"/>
            <a:ext cx="2286000" cy="201168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ubble answer text"/>
          <p:cNvSpPr txBox="1"/>
          <p:nvPr/>
        </p:nvSpPr>
        <p:spPr>
          <a:xfrm>
            <a:off x="8915400" y="2852928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Step 1: subtract 6 from both sides.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Step 2: divide by 2.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x = 4</a:t>
            </a:r>
            <a:endParaRPr lang="en-US" sz="1400" dirty="0"/>
          </a:p>
        </p:txBody>
      </p:sp>
      <p:sp>
        <p:nvSpPr>
          <p:cNvPr id="12" name="Illustration caption"/>
          <p:cNvSpPr txBox="1"/>
          <p:nvPr/>
        </p:nvSpPr>
        <p:spPr>
          <a:xfrm>
            <a:off x="8321040" y="6126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Illustration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number 1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roblem number 1 label"/>
          <p:cNvSpPr txBox="1"/>
          <p:nvPr/>
        </p:nvSpPr>
        <p:spPr>
          <a:xfrm>
            <a:off x="8686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Problem heading 1"/>
          <p:cNvSpPr txBox="1"/>
          <p:nvPr/>
        </p:nvSpPr>
        <p:spPr>
          <a:xfrm>
            <a:off x="86868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 help after school</a:t>
            </a:r>
            <a:endParaRPr lang="en-US" sz="22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868680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Learners get home to homework and nobody to ask. Parents work late and many cannot help with the CAPS curriculum.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 number 2"/>
          <p:cNvSpPr/>
          <p:nvPr/>
        </p:nvSpPr>
        <p:spPr>
          <a:xfrm>
            <a:off x="461772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blem number 2 label"/>
          <p:cNvSpPr txBox="1"/>
          <p:nvPr/>
        </p:nvSpPr>
        <p:spPr>
          <a:xfrm>
            <a:off x="46177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Problem heading 2"/>
          <p:cNvSpPr txBox="1"/>
          <p:nvPr/>
        </p:nvSpPr>
        <p:spPr>
          <a:xfrm>
            <a:off x="461772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Tutors cost too much</a:t>
            </a:r>
            <a:endParaRPr lang="en-US" sz="22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4617720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Private tutors charge R150 to R300 per hour, out of reach for many families in communities like Soshanguve.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blem number 3"/>
          <p:cNvSpPr/>
          <p:nvPr/>
        </p:nvSpPr>
        <p:spPr>
          <a:xfrm>
            <a:off x="83667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roblem number 3 label"/>
          <p:cNvSpPr txBox="1"/>
          <p:nvPr/>
        </p:nvSpPr>
        <p:spPr>
          <a:xfrm>
            <a:off x="83667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Problem heading 3"/>
          <p:cNvSpPr txBox="1"/>
          <p:nvPr/>
        </p:nvSpPr>
        <p:spPr>
          <a:xfrm>
            <a:off x="83667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 is expensive</a:t>
            </a:r>
            <a:endParaRPr lang="en-US" sz="22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8366760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Video lessons drain prepaid data, so learners cannot rely on YouTube to catch up.</a:t>
            </a:r>
            <a:endParaRPr lang="en-US" sz="1600" dirty="0"/>
          </a:p>
        </p:txBody>
      </p:sp>
      <p:sp>
        <p:nvSpPr>
          <p:cNvPr id="18" name="Problem takeaway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The result: learners fall behind, and poor matric results follow.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Our 2-minute pitch</a:t>
            </a:r>
            <a:endParaRPr lang="en-US" sz="3600" dirty="0"/>
          </a:p>
        </p:txBody>
      </p:sp>
      <p:sp>
        <p:nvSpPr>
          <p:cNvPr id="3" name="Pitch card 1"/>
          <p:cNvSpPr/>
          <p:nvPr/>
        </p:nvSpPr>
        <p:spPr>
          <a:xfrm>
            <a:off x="54864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tch number 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itch number 1 label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Pitch heading 1"/>
          <p:cNvSpPr txBox="1"/>
          <p:nvPr/>
        </p:nvSpPr>
        <p:spPr>
          <a:xfrm>
            <a:off x="8229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</a:t>
            </a:r>
            <a:endParaRPr lang="en-US" sz="2000" dirty="0"/>
          </a:p>
        </p:txBody>
      </p:sp>
      <p:sp>
        <p:nvSpPr>
          <p:cNvPr id="7" name="Pitch text 1"/>
          <p:cNvSpPr txBox="1"/>
          <p:nvPr/>
        </p:nvSpPr>
        <p:spPr>
          <a:xfrm>
            <a:off x="822960" y="32918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Learners in Grades 8 to 12 struggle with homework after school. Tutors are expensive and parents are at work.</a:t>
            </a:r>
            <a:endParaRPr lang="en-US" sz="1500" dirty="0"/>
          </a:p>
        </p:txBody>
      </p:sp>
      <p:sp>
        <p:nvSpPr>
          <p:cNvPr id="8" name="Pitch card 2"/>
          <p:cNvSpPr/>
          <p:nvPr/>
        </p:nvSpPr>
        <p:spPr>
          <a:xfrm>
            <a:off x="333756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tch number 2"/>
          <p:cNvSpPr/>
          <p:nvPr/>
        </p:nvSpPr>
        <p:spPr>
          <a:xfrm>
            <a:off x="361188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itch number 2 label"/>
          <p:cNvSpPr txBox="1"/>
          <p:nvPr/>
        </p:nvSpPr>
        <p:spPr>
          <a:xfrm>
            <a:off x="36118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Pitch heading 2"/>
          <p:cNvSpPr txBox="1"/>
          <p:nvPr/>
        </p:nvSpPr>
        <p:spPr>
          <a:xfrm>
            <a:off x="361188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Solution</a:t>
            </a:r>
            <a:endParaRPr lang="en-US" sz="2000" dirty="0"/>
          </a:p>
        </p:txBody>
      </p:sp>
      <p:sp>
        <p:nvSpPr>
          <p:cNvPr id="12" name="Pitch text 2"/>
          <p:cNvSpPr txBox="1"/>
          <p:nvPr/>
        </p:nvSpPr>
        <p:spPr>
          <a:xfrm>
            <a:off x="3611880" y="32918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EduSnap: type or snap a photo of a homework question and an AI chatbot explains it step by step.</a:t>
            </a:r>
            <a:endParaRPr lang="en-US" sz="1500" dirty="0"/>
          </a:p>
        </p:txBody>
      </p:sp>
      <p:sp>
        <p:nvSpPr>
          <p:cNvPr id="13" name="Pitch card 3"/>
          <p:cNvSpPr/>
          <p:nvPr/>
        </p:nvSpPr>
        <p:spPr>
          <a:xfrm>
            <a:off x="612648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tch number 3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itch number 3 label"/>
          <p:cNvSpPr txBox="1"/>
          <p:nvPr/>
        </p:nvSpPr>
        <p:spPr>
          <a:xfrm>
            <a:off x="6400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Pitch heading 3"/>
          <p:cNvSpPr txBox="1"/>
          <p:nvPr/>
        </p:nvSpPr>
        <p:spPr>
          <a:xfrm>
            <a:off x="64008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Who it is for</a:t>
            </a:r>
            <a:endParaRPr lang="en-US" sz="2000" dirty="0"/>
          </a:p>
        </p:txBody>
      </p:sp>
      <p:sp>
        <p:nvSpPr>
          <p:cNvPr id="17" name="Pitch text 3"/>
          <p:cNvSpPr txBox="1"/>
          <p:nvPr/>
        </p:nvSpPr>
        <p:spPr>
          <a:xfrm>
            <a:off x="6400800" y="32918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Grade 8 to 12 learners in township and urban schools, on phones with limited data.</a:t>
            </a:r>
            <a:endParaRPr lang="en-US" sz="1500" dirty="0"/>
          </a:p>
        </p:txBody>
      </p:sp>
      <p:sp>
        <p:nvSpPr>
          <p:cNvPr id="18" name="Pitch card 4"/>
          <p:cNvSpPr/>
          <p:nvPr/>
        </p:nvSpPr>
        <p:spPr>
          <a:xfrm>
            <a:off x="891540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Pitch number 4"/>
          <p:cNvSpPr/>
          <p:nvPr/>
        </p:nvSpPr>
        <p:spPr>
          <a:xfrm>
            <a:off x="9189720" y="1920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Pitch number 4 label"/>
          <p:cNvSpPr txBox="1"/>
          <p:nvPr/>
        </p:nvSpPr>
        <p:spPr>
          <a:xfrm>
            <a:off x="91897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Pitch heading 4"/>
          <p:cNvSpPr txBox="1"/>
          <p:nvPr/>
        </p:nvSpPr>
        <p:spPr>
          <a:xfrm>
            <a:off x="91897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How AI helps</a:t>
            </a:r>
            <a:endParaRPr lang="en-US" sz="2000" dirty="0"/>
          </a:p>
        </p:txBody>
      </p:sp>
      <p:sp>
        <p:nvSpPr>
          <p:cNvPr id="22" name="Pitch text 4"/>
          <p:cNvSpPr txBox="1"/>
          <p:nvPr/>
        </p:nvSpPr>
        <p:spPr>
          <a:xfrm>
            <a:off x="9189720" y="32918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Reads handwritten maths, explains in simple English, Afrikaans or Zulu, and answers 24/7 for far less than a tutor.</a:t>
            </a:r>
            <a:endParaRPr lang="en-US" sz="1500" dirty="0"/>
          </a:p>
        </p:txBody>
      </p:sp>
      <p:sp>
        <p:nvSpPr>
          <p:cNvPr id="23" name="Pitch model line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Business model: free for 5 questions a day, then R49 per month.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EduSnap works</a:t>
            </a:r>
            <a:endParaRPr lang="en-US" sz="3600" dirty="0"/>
          </a:p>
        </p:txBody>
      </p:sp>
      <p:sp>
        <p:nvSpPr>
          <p:cNvPr id="3" name="Step number 1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 1 label"/>
          <p:cNvSpPr txBox="1"/>
          <p:nvPr/>
        </p:nvSpPr>
        <p:spPr>
          <a:xfrm>
            <a:off x="54864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Arrow 1"/>
          <p:cNvSpPr/>
          <p:nvPr/>
        </p:nvSpPr>
        <p:spPr>
          <a:xfrm>
            <a:off x="1920240" y="2011680"/>
            <a:ext cx="128016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heading 1"/>
          <p:cNvSpPr txBox="1"/>
          <p:nvPr/>
        </p:nvSpPr>
        <p:spPr>
          <a:xfrm>
            <a:off x="54864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</a:t>
            </a:r>
            <a:endParaRPr lang="en-US" sz="2800" dirty="0"/>
          </a:p>
        </p:txBody>
      </p:sp>
      <p:sp>
        <p:nvSpPr>
          <p:cNvPr id="7" name="Step text 1"/>
          <p:cNvSpPr txBox="1"/>
          <p:nvPr/>
        </p:nvSpPr>
        <p:spPr>
          <a:xfrm>
            <a:off x="54864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Take a photo of the question or type it in. Works with handwritten maths.</a:t>
            </a:r>
            <a:endParaRPr lang="en-US" sz="1600" dirty="0"/>
          </a:p>
        </p:txBody>
      </p:sp>
      <p:sp>
        <p:nvSpPr>
          <p:cNvPr id="8" name="Step number 2"/>
          <p:cNvSpPr/>
          <p:nvPr/>
        </p:nvSpPr>
        <p:spPr>
          <a:xfrm>
            <a:off x="4297680" y="173736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number 2 label"/>
          <p:cNvSpPr txBox="1"/>
          <p:nvPr/>
        </p:nvSpPr>
        <p:spPr>
          <a:xfrm>
            <a:off x="429768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Arrow 2"/>
          <p:cNvSpPr/>
          <p:nvPr/>
        </p:nvSpPr>
        <p:spPr>
          <a:xfrm>
            <a:off x="5669280" y="2011680"/>
            <a:ext cx="128016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ep heading 2"/>
          <p:cNvSpPr txBox="1"/>
          <p:nvPr/>
        </p:nvSpPr>
        <p:spPr>
          <a:xfrm>
            <a:off x="429768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800" dirty="0"/>
          </a:p>
        </p:txBody>
      </p:sp>
      <p:sp>
        <p:nvSpPr>
          <p:cNvPr id="12" name="Step text 2"/>
          <p:cNvSpPr txBox="1"/>
          <p:nvPr/>
        </p:nvSpPr>
        <p:spPr>
          <a:xfrm>
            <a:off x="429768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reads the question and matches it to the CAPS-aligned curriculum for the learner's grade.</a:t>
            </a:r>
            <a:endParaRPr lang="en-US" sz="1600" dirty="0"/>
          </a:p>
        </p:txBody>
      </p:sp>
      <p:sp>
        <p:nvSpPr>
          <p:cNvPr id="13" name="Step number 3"/>
          <p:cNvSpPr/>
          <p:nvPr/>
        </p:nvSpPr>
        <p:spPr>
          <a:xfrm>
            <a:off x="8046720" y="17373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number 3 label"/>
          <p:cNvSpPr txBox="1"/>
          <p:nvPr/>
        </p:nvSpPr>
        <p:spPr>
          <a:xfrm>
            <a:off x="804672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Step heading 3"/>
          <p:cNvSpPr txBox="1"/>
          <p:nvPr/>
        </p:nvSpPr>
        <p:spPr>
          <a:xfrm>
            <a:off x="804672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800" dirty="0"/>
          </a:p>
        </p:txBody>
      </p:sp>
      <p:sp>
        <p:nvSpPr>
          <p:cNvPr id="16" name="Step text 3"/>
          <p:cNvSpPr txBox="1"/>
          <p:nvPr/>
        </p:nvSpPr>
        <p:spPr>
          <a:xfrm>
            <a:off x="804672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Get a step-by-step explanation in simple English, Afrikaans or Zulu, available 24/7.</a:t>
            </a:r>
            <a:endParaRPr lang="en-US" sz="1600" dirty="0"/>
          </a:p>
        </p:txBody>
      </p:sp>
      <p:sp>
        <p:nvSpPr>
          <p:cNvPr id="17" name="Low data banner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w data text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Low-data mode keeps it usable on prepaid data of about R30 a week.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Meet Thabo, our customer</a:t>
            </a:r>
            <a:endParaRPr lang="en-US" sz="3600" dirty="0"/>
          </a:p>
        </p:txBody>
      </p:sp>
      <p:sp>
        <p:nvSpPr>
          <p:cNvPr id="3" name="Persona profile"/>
          <p:cNvSpPr/>
          <p:nvPr/>
        </p:nvSpPr>
        <p:spPr>
          <a:xfrm>
            <a:off x="548640" y="155448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ersona avatar"/>
          <p:cNvSpPr/>
          <p:nvPr/>
        </p:nvSpPr>
        <p:spPr>
          <a:xfrm>
            <a:off x="1645920" y="1828800"/>
            <a:ext cx="1097280" cy="1097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Persona avatar label"/>
          <p:cNvSpPr txBox="1"/>
          <p:nvPr/>
        </p:nvSpPr>
        <p:spPr>
          <a:xfrm>
            <a:off x="164592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</a:t>
            </a:r>
            <a:endParaRPr lang="en-US" sz="4400" dirty="0"/>
          </a:p>
        </p:txBody>
      </p:sp>
      <p:sp>
        <p:nvSpPr>
          <p:cNvPr id="6" name="Persona name"/>
          <p:cNvSpPr txBox="1"/>
          <p:nvPr/>
        </p:nvSpPr>
        <p:spPr>
          <a:xfrm>
            <a:off x="7315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Thabo, 16</a:t>
            </a:r>
            <a:endParaRPr lang="en-US" sz="2600" dirty="0"/>
          </a:p>
        </p:txBody>
      </p:sp>
      <p:sp>
        <p:nvSpPr>
          <p:cNvPr id="7" name="Persona school"/>
          <p:cNvSpPr txBox="1"/>
          <p:nvPr/>
        </p:nvSpPr>
        <p:spPr>
          <a:xfrm>
            <a:off x="73152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Grade 10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Soshanguve High School</a:t>
            </a:r>
            <a:endParaRPr lang="en-US" sz="1600" dirty="0"/>
          </a:p>
        </p:txBody>
      </p:sp>
      <p:sp>
        <p:nvSpPr>
          <p:cNvPr id="8" name="Persona quote"/>
          <p:cNvSpPr txBox="1"/>
          <p:nvPr/>
        </p:nvSpPr>
        <p:spPr>
          <a:xfrm>
            <a:off x="822960" y="4754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"I want to understand, not just copy the answer."</a:t>
            </a:r>
            <a:endParaRPr lang="en-US" sz="1600" dirty="0"/>
          </a:p>
        </p:txBody>
      </p:sp>
      <p:sp>
        <p:nvSpPr>
          <p:cNvPr id="9" name="Persona card Goals"/>
          <p:cNvSpPr/>
          <p:nvPr/>
        </p:nvSpPr>
        <p:spPr>
          <a:xfrm>
            <a:off x="4114800" y="1554480"/>
            <a:ext cx="3657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ersona heading Goals"/>
          <p:cNvSpPr txBox="1"/>
          <p:nvPr/>
        </p:nvSpPr>
        <p:spPr>
          <a:xfrm>
            <a:off x="438912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Goals</a:t>
            </a:r>
            <a:endParaRPr lang="en-US" sz="2000" dirty="0"/>
          </a:p>
        </p:txBody>
      </p:sp>
      <p:sp>
        <p:nvSpPr>
          <p:cNvPr id="11" name="Persona text Goals"/>
          <p:cNvSpPr txBox="1"/>
          <p:nvPr/>
        </p:nvSpPr>
        <p:spPr>
          <a:xfrm>
            <a:off x="4389120" y="2331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Pass Maths and Physical Science, get into university, help his younger sister.</a:t>
            </a:r>
            <a:endParaRPr lang="en-US" sz="1500" dirty="0"/>
          </a:p>
        </p:txBody>
      </p:sp>
      <p:sp>
        <p:nvSpPr>
          <p:cNvPr id="12" name="Persona card Frustrations"/>
          <p:cNvSpPr/>
          <p:nvPr/>
        </p:nvSpPr>
        <p:spPr>
          <a:xfrm>
            <a:off x="7955280" y="1554480"/>
            <a:ext cx="3657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ersona heading Frustrations"/>
          <p:cNvSpPr txBox="1"/>
          <p:nvPr/>
        </p:nvSpPr>
        <p:spPr>
          <a:xfrm>
            <a:off x="822960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Frustrations</a:t>
            </a:r>
            <a:endParaRPr lang="en-US" sz="2000" dirty="0"/>
          </a:p>
        </p:txBody>
      </p:sp>
      <p:sp>
        <p:nvSpPr>
          <p:cNvPr id="14" name="Persona text Frustrations"/>
          <p:cNvSpPr txBox="1"/>
          <p:nvPr/>
        </p:nvSpPr>
        <p:spPr>
          <a:xfrm>
            <a:off x="8229600" y="2331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internet at home, parents work until 6pm, tutors are too expensive, YouTube uses too much data.</a:t>
            </a:r>
            <a:endParaRPr lang="en-US" sz="1500" dirty="0"/>
          </a:p>
        </p:txBody>
      </p:sp>
      <p:sp>
        <p:nvSpPr>
          <p:cNvPr id="15" name="Persona card Behaviours"/>
          <p:cNvSpPr/>
          <p:nvPr/>
        </p:nvSpPr>
        <p:spPr>
          <a:xfrm>
            <a:off x="4114800" y="3931920"/>
            <a:ext cx="3657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ersona heading Behaviours"/>
          <p:cNvSpPr txBox="1"/>
          <p:nvPr/>
        </p:nvSpPr>
        <p:spPr>
          <a:xfrm>
            <a:off x="438912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Behaviours</a:t>
            </a:r>
            <a:endParaRPr lang="en-US" sz="2000" dirty="0"/>
          </a:p>
        </p:txBody>
      </p:sp>
      <p:sp>
        <p:nvSpPr>
          <p:cNvPr id="17" name="Persona text Behaviours"/>
          <p:cNvSpPr txBox="1"/>
          <p:nvPr/>
        </p:nvSpPr>
        <p:spPr>
          <a:xfrm>
            <a:off x="438912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Uses WhatsApp, photographs his homework, studies 7 to 9pm on R30 a week of prepaid data.</a:t>
            </a:r>
            <a:endParaRPr lang="en-US" sz="1500" dirty="0"/>
          </a:p>
        </p:txBody>
      </p:sp>
      <p:sp>
        <p:nvSpPr>
          <p:cNvPr id="18" name="Persona card Why EduSnap"/>
          <p:cNvSpPr/>
          <p:nvPr/>
        </p:nvSpPr>
        <p:spPr>
          <a:xfrm>
            <a:off x="7955280" y="3931920"/>
            <a:ext cx="3657600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Persona heading Why EduSnap"/>
          <p:cNvSpPr txBox="1"/>
          <p:nvPr/>
        </p:nvSpPr>
        <p:spPr>
          <a:xfrm>
            <a:off x="822960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Why EduSnap</a:t>
            </a:r>
            <a:endParaRPr lang="en-US" sz="2000" dirty="0"/>
          </a:p>
        </p:txBody>
      </p:sp>
      <p:sp>
        <p:nvSpPr>
          <p:cNvPr id="20" name="Persona text Why EduSnap"/>
          <p:cNvSpPr txBox="1"/>
          <p:nvPr/>
        </p:nvSpPr>
        <p:spPr>
          <a:xfrm>
            <a:off x="822960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Step-by-step explanations, low-data mode and a cheap monthly plan.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 plans, one free</a:t>
            </a:r>
            <a:endParaRPr lang="en-US" sz="3600" dirty="0"/>
          </a:p>
        </p:txBody>
      </p:sp>
      <p:sp>
        <p:nvSpPr>
          <p:cNvPr id="3" name="Plan card Free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n name Free"/>
          <p:cNvSpPr txBox="1"/>
          <p:nvPr/>
        </p:nvSpPr>
        <p:spPr>
          <a:xfrm>
            <a:off x="8686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400" dirty="0"/>
          </a:p>
        </p:txBody>
      </p:sp>
      <p:sp>
        <p:nvSpPr>
          <p:cNvPr id="5" name="Plan price Free"/>
          <p:cNvSpPr txBox="1"/>
          <p:nvPr/>
        </p:nvSpPr>
        <p:spPr>
          <a:xfrm>
            <a:off x="86868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R0</a:t>
            </a:r>
            <a:endParaRPr lang="en-US" sz="2800" dirty="0"/>
          </a:p>
        </p:txBody>
      </p:sp>
      <p:sp>
        <p:nvSpPr>
          <p:cNvPr id="6" name="Plan features Free"/>
          <p:cNvSpPr txBox="1"/>
          <p:nvPr/>
        </p:nvSpPr>
        <p:spPr>
          <a:xfrm>
            <a:off x="868680" y="3474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 questions per 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Text questions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Basic explanations</a:t>
            </a:r>
            <a:endParaRPr lang="en-US" sz="1500" dirty="0"/>
          </a:p>
        </p:txBody>
      </p:sp>
      <p:sp>
        <p:nvSpPr>
          <p:cNvPr id="7" name="Plan card Snap &amp; Learn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Popular badge"/>
          <p:cNvSpPr/>
          <p:nvPr/>
        </p:nvSpPr>
        <p:spPr>
          <a:xfrm>
            <a:off x="4617720" y="173736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Popular badge text"/>
          <p:cNvSpPr txBox="1"/>
          <p:nvPr/>
        </p:nvSpPr>
        <p:spPr>
          <a:xfrm>
            <a:off x="461772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Most popular</a:t>
            </a:r>
            <a:endParaRPr lang="en-US" sz="1200" dirty="0"/>
          </a:p>
        </p:txBody>
      </p:sp>
      <p:sp>
        <p:nvSpPr>
          <p:cNvPr id="10" name="Plan name Snap &amp;amp; Learn"/>
          <p:cNvSpPr txBox="1"/>
          <p:nvPr/>
        </p:nvSpPr>
        <p:spPr>
          <a:xfrm>
            <a:off x="461772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 &amp; Learn</a:t>
            </a:r>
            <a:endParaRPr lang="en-US" sz="2400" dirty="0"/>
          </a:p>
        </p:txBody>
      </p:sp>
      <p:sp>
        <p:nvSpPr>
          <p:cNvPr id="11" name="Plan price Snap &amp;amp; Learn"/>
          <p:cNvSpPr txBox="1"/>
          <p:nvPr/>
        </p:nvSpPr>
        <p:spPr>
          <a:xfrm>
            <a:off x="461772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R49 / month</a:t>
            </a:r>
            <a:endParaRPr lang="en-US" sz="2800" dirty="0"/>
          </a:p>
        </p:txBody>
      </p:sp>
      <p:sp>
        <p:nvSpPr>
          <p:cNvPr id="12" name="Plan features Snap &amp; Learn"/>
          <p:cNvSpPr txBox="1"/>
          <p:nvPr/>
        </p:nvSpPr>
        <p:spPr>
          <a:xfrm>
            <a:off x="4617720" y="3474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100 questions per month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Photo snap for handwritten maths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Step-by-step and video explanations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CAPS-aligned, Grades 8 to 12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Low-data mode</a:t>
            </a:r>
            <a:endParaRPr lang="en-US" sz="1500" dirty="0"/>
          </a:p>
        </p:txBody>
      </p:sp>
      <p:sp>
        <p:nvSpPr>
          <p:cNvPr id="13" name="Plan card Family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lan name Family"/>
          <p:cNvSpPr txBox="1"/>
          <p:nvPr/>
        </p:nvSpPr>
        <p:spPr>
          <a:xfrm>
            <a:off x="836676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2400" dirty="0"/>
          </a:p>
        </p:txBody>
      </p:sp>
      <p:sp>
        <p:nvSpPr>
          <p:cNvPr id="15" name="Plan price Family"/>
          <p:cNvSpPr txBox="1"/>
          <p:nvPr/>
        </p:nvSpPr>
        <p:spPr>
          <a:xfrm>
            <a:off x="836676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R89 / month</a:t>
            </a:r>
            <a:endParaRPr lang="en-US" sz="2800" dirty="0"/>
          </a:p>
        </p:txBody>
      </p:sp>
      <p:sp>
        <p:nvSpPr>
          <p:cNvPr id="16" name="Plan features Family"/>
          <p:cNvSpPr txBox="1"/>
          <p:nvPr/>
        </p:nvSpPr>
        <p:spPr>
          <a:xfrm>
            <a:off x="8366760" y="3474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Everything in Snap &amp; Learn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learner profiles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Parent progress report by SMS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Past exam papers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we make money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82296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R49</a:t>
            </a:r>
            <a:endParaRPr lang="en-US" sz="54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subscription fee per month (parameter)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457200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5400" dirty="0"/>
          </a:p>
        </p:txBody>
      </p:sp>
      <p:sp>
        <p:nvSpPr>
          <p:cNvPr id="8" name="Stat label 2"/>
          <p:cNvSpPr txBox="1"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server cost per user per month (parameter)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832104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R98,000</a:t>
            </a:r>
            <a:endParaRPr lang="en-US" sz="5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832104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monthly revenue at 2,000 subscribers</a:t>
            </a:r>
            <a:endParaRPr lang="en-US" sz="1600" dirty="0"/>
          </a:p>
        </p:txBody>
      </p:sp>
      <p:sp>
        <p:nvSpPr>
          <p:cNvPr id="12" name="Model label Variable"/>
          <p:cNvSpPr txBox="1"/>
          <p:nvPr/>
        </p:nvSpPr>
        <p:spPr>
          <a:xfrm>
            <a:off x="54864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Variable</a:t>
            </a:r>
            <a:endParaRPr lang="en-US" sz="1800" dirty="0"/>
          </a:p>
        </p:txBody>
      </p:sp>
      <p:sp>
        <p:nvSpPr>
          <p:cNvPr id="13" name="Model text Variable"/>
          <p:cNvSpPr txBox="1"/>
          <p:nvPr/>
        </p:nvSpPr>
        <p:spPr>
          <a:xfrm>
            <a:off x="246888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numberOfSubscribers (changes every month)</a:t>
            </a:r>
            <a:endParaRPr lang="en-US" sz="1600" dirty="0"/>
          </a:p>
        </p:txBody>
      </p:sp>
      <p:sp>
        <p:nvSpPr>
          <p:cNvPr id="14" name="Model label Parameters"/>
          <p:cNvSpPr txBox="1"/>
          <p:nvPr/>
        </p:nvSpPr>
        <p:spPr>
          <a:xfrm>
            <a:off x="548640" y="4709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Parameters</a:t>
            </a:r>
            <a:endParaRPr lang="en-US" sz="1800" dirty="0"/>
          </a:p>
        </p:txBody>
      </p:sp>
      <p:sp>
        <p:nvSpPr>
          <p:cNvPr id="15" name="Model text Parameters"/>
          <p:cNvSpPr txBox="1"/>
          <p:nvPr/>
        </p:nvSpPr>
        <p:spPr>
          <a:xfrm>
            <a:off x="2468880" y="4709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subscriptionFee R49, serverCostPerUser R5, hosting R150 per month</a:t>
            </a:r>
            <a:endParaRPr lang="en-US" sz="1600" dirty="0"/>
          </a:p>
        </p:txBody>
      </p:sp>
      <p:sp>
        <p:nvSpPr>
          <p:cNvPr id="16" name="Model label Example"/>
          <p:cNvSpPr txBox="1"/>
          <p:nvPr/>
        </p:nvSpPr>
        <p:spPr>
          <a:xfrm>
            <a:off x="548640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</a:t>
            </a:r>
            <a:endParaRPr lang="en-US" sz="1800" dirty="0"/>
          </a:p>
        </p:txBody>
      </p:sp>
      <p:sp>
        <p:nvSpPr>
          <p:cNvPr id="17" name="Model text Example"/>
          <p:cNvSpPr txBox="1"/>
          <p:nvPr/>
        </p:nvSpPr>
        <p:spPr>
          <a:xfrm>
            <a:off x="2468880" y="5394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Month 3: 500 users x R49 = R24,500 revenue, less R2,500 server cost = R22,000 profit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Year 1 projection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4630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hart caption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Year 1 total: R556,493 revenue and R497,908 net profit after server and hosting costs. Apr to Nov subscriber numbers are estimated growth from Mar (500) to Dec (2,000).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Competitor case studies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834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EduSnap fills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Socratic by Google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Photo-based homework solver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CAPS-aligned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Photomath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Step-by-step maths solutions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steps from a photo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 only; paid 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Flashcards and study sets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community 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photo snap of a 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homework help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answers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the South African curriculum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mpetitor takeaway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EduSnap combines photo snap, CAPS alignment, local languages and low-data use at R49 a month.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Where EduSnap goes next</a:t>
            </a:r>
            <a:endParaRPr lang="en-US" sz="3600" dirty="0"/>
          </a:p>
        </p:txBody>
      </p:sp>
      <p:sp>
        <p:nvSpPr>
          <p:cNvPr id="3" name="Integration card 1"/>
          <p:cNvSpPr/>
          <p:nvPr/>
        </p:nvSpPr>
        <p:spPr>
          <a:xfrm>
            <a:off x="548640" y="155448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tegration number 1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tegration number 1 label"/>
          <p:cNvSpPr txBox="1"/>
          <p:nvPr/>
        </p:nvSpPr>
        <p:spPr>
          <a:xfrm>
            <a:off x="8686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Integration heading 1"/>
          <p:cNvSpPr txBox="1"/>
          <p:nvPr/>
        </p:nvSpPr>
        <p:spPr>
          <a:xfrm>
            <a:off x="86868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chatbot</a:t>
            </a:r>
            <a:endParaRPr lang="en-US" sz="2200" dirty="0"/>
          </a:p>
        </p:txBody>
      </p:sp>
      <p:sp>
        <p:nvSpPr>
          <p:cNvPr id="7" name="Integration text 1"/>
          <p:cNvSpPr txBox="1"/>
          <p:nvPr/>
        </p:nvSpPr>
        <p:spPr>
          <a:xfrm>
            <a:off x="86868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learner and parent questions instantly, around the clock.</a:t>
            </a:r>
            <a:endParaRPr lang="en-US" sz="1500" dirty="0"/>
          </a:p>
        </p:txBody>
      </p:sp>
      <p:sp>
        <p:nvSpPr>
          <p:cNvPr id="8" name="Integration card 2"/>
          <p:cNvSpPr/>
          <p:nvPr/>
        </p:nvSpPr>
        <p:spPr>
          <a:xfrm>
            <a:off x="4297680" y="155448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ntegration number 2"/>
          <p:cNvSpPr/>
          <p:nvPr/>
        </p:nvSpPr>
        <p:spPr>
          <a:xfrm>
            <a:off x="461772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ntegration number 2 label"/>
          <p:cNvSpPr txBox="1"/>
          <p:nvPr/>
        </p:nvSpPr>
        <p:spPr>
          <a:xfrm>
            <a:off x="46177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Integration heading 2"/>
          <p:cNvSpPr txBox="1"/>
          <p:nvPr/>
        </p:nvSpPr>
        <p:spPr>
          <a:xfrm>
            <a:off x="46177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No-code workflow</a:t>
            </a:r>
            <a:endParaRPr lang="en-US" sz="2200" dirty="0"/>
          </a:p>
        </p:txBody>
      </p:sp>
      <p:sp>
        <p:nvSpPr>
          <p:cNvPr id="12" name="Integration text 2"/>
          <p:cNvSpPr txBox="1"/>
          <p:nvPr/>
        </p:nvSpPr>
        <p:spPr>
          <a:xfrm>
            <a:off x="461772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Automate sign-up confirmations and SMS progress reports to parents.</a:t>
            </a:r>
            <a:endParaRPr lang="en-US" sz="1500" dirty="0"/>
          </a:p>
        </p:txBody>
      </p:sp>
      <p:sp>
        <p:nvSpPr>
          <p:cNvPr id="13" name="Integration card 3"/>
          <p:cNvSpPr/>
          <p:nvPr/>
        </p:nvSpPr>
        <p:spPr>
          <a:xfrm>
            <a:off x="8046720" y="155448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ntegration number 3"/>
          <p:cNvSpPr/>
          <p:nvPr/>
        </p:nvSpPr>
        <p:spPr>
          <a:xfrm>
            <a:off x="83667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ntegration number 3 label"/>
          <p:cNvSpPr txBox="1"/>
          <p:nvPr/>
        </p:nvSpPr>
        <p:spPr>
          <a:xfrm>
            <a:off x="83667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Integration heading 3"/>
          <p:cNvSpPr txBox="1"/>
          <p:nvPr/>
        </p:nvSpPr>
        <p:spPr>
          <a:xfrm>
            <a:off x="83667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Payment gateway</a:t>
            </a:r>
            <a:endParaRPr lang="en-US" sz="2200" dirty="0"/>
          </a:p>
        </p:txBody>
      </p:sp>
      <p:sp>
        <p:nvSpPr>
          <p:cNvPr id="17" name="Integration text 3"/>
          <p:cNvSpPr txBox="1"/>
          <p:nvPr/>
        </p:nvSpPr>
        <p:spPr>
          <a:xfrm>
            <a:off x="836676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Let South African users pay R49 or R89 by card or EFT.</a:t>
            </a:r>
            <a:endParaRPr lang="en-US" sz="1500" dirty="0"/>
          </a:p>
        </p:txBody>
      </p:sp>
      <p:sp>
        <p:nvSpPr>
          <p:cNvPr id="18" name="Jobs and innovation banner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Jobs heading"/>
          <p:cNvSpPr txBox="1"/>
          <p:nvPr/>
        </p:nvSpPr>
        <p:spPr>
          <a:xfrm>
            <a:off x="868680" y="4663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Innovation and job creation</a:t>
            </a:r>
            <a:endParaRPr lang="en-US" sz="2000" dirty="0"/>
          </a:p>
        </p:txBody>
      </p:sp>
      <p:sp>
        <p:nvSpPr>
          <p:cNvPr id="20" name="Jobs text"/>
          <p:cNvSpPr txBox="1"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Partner with schools for marketing, and offer free hosting credits and mentorship so more students can launch low-cost education start-ups.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Closing title"/>
          <p:cNvSpPr txBox="1"/>
          <p:nvPr/>
        </p:nvSpPr>
        <p:spPr>
          <a:xfrm>
            <a:off x="73152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Closing tagline"/>
          <p:cNvSpPr txBox="1"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EduSnap: snap a question, get an answer.</a:t>
            </a:r>
            <a:endParaRPr lang="en-US" sz="2600" dirty="0"/>
          </a:p>
        </p:txBody>
      </p:sp>
      <p:sp>
        <p:nvSpPr>
          <p:cNvPr id="5" name="Closing question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Snap">
  <a:themeElements>
    <a:clrScheme name="EduSnap">
      <a:dk1>
        <a:srgbClr val="12262B"/>
      </a:dk1>
      <a:lt1>
        <a:srgbClr val="FFFFFF"/>
      </a:lt1>
      <a:dk2>
        <a:srgbClr val="0B3C49"/>
      </a:dk2>
      <a:lt2>
        <a:srgbClr val="EAF2F0"/>
      </a:lt2>
      <a:accent1>
        <a:srgbClr val="1B7F79"/>
      </a:accent1>
      <a:accent2>
        <a:srgbClr val="F2A900"/>
      </a:accent2>
      <a:accent3>
        <a:srgbClr val="D1495B"/>
      </a:accent3>
      <a:accent4>
        <a:srgbClr val="5B8E7D"/>
      </a:accent4>
      <a:accent5>
        <a:srgbClr val="7A9E9F"/>
      </a:accent5>
      <a:accent6>
        <a:srgbClr val="3D5A80"/>
      </a:accent6>
      <a:hlink>
        <a:srgbClr val="1B7F79"/>
      </a:hlink>
      <a:folHlink>
        <a:srgbClr val="5B8E7D"/>
      </a:folHlink>
    </a:clrScheme>
    <a:fontScheme name="EduSn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EduSnap: AI homework help for South African learners</dc:title>
  <dc:subject>PptxGenJS Presentation</dc:subject>
  <dc:creator>PptxGenJS</dc:creator>
  <cp:lastModifiedBy>PptxGenJS</cp:lastModifiedBy>
  <cp:revision>1</cp:revision>
  <dcterms:created xsi:type="dcterms:W3CDTF">2026-10-19T21:44:50Z</dcterms:created>
  <dcterms:modified xsi:type="dcterms:W3CDTF">2026-10-19T21:44:50Z</dcterms:modified>
</cp:coreProperties>
</file>